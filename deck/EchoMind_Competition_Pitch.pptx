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be6a78c1944dce" /><Relationship Type="http://schemas.openxmlformats.org/officeDocument/2006/relationships/extended-properties" Target="/docProps/app.xml" Id="R1f2d91b060954c16" /><Relationship Type="http://schemas.openxmlformats.org/officeDocument/2006/relationships/officeDocument" Target="/ppt/presentation.xml" Id="R3416a8b0046f4a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1626fb31a24bab"/>
  </p:sldMasterIdLst>
  <p:notesMasterIdLst>
    <p:notesMasterId xmlns:r="http://schemas.openxmlformats.org/officeDocument/2006/relationships" r:id="R89bd36d5d18d46bf"/>
  </p:notesMasterIdLst>
  <p:sldIdLst>
    <p:sldId xmlns:r="http://schemas.openxmlformats.org/officeDocument/2006/relationships" id="256" r:id="R52adebec2d0e41d0"/>
    <p:sldId xmlns:r="http://schemas.openxmlformats.org/officeDocument/2006/relationships" id="257" r:id="R0df8090f27da40b2"/>
    <p:sldId xmlns:r="http://schemas.openxmlformats.org/officeDocument/2006/relationships" id="258" r:id="R150710305d8449c3"/>
    <p:sldId xmlns:r="http://schemas.openxmlformats.org/officeDocument/2006/relationships" id="259" r:id="Rb90ad9b18c7c44cd"/>
    <p:sldId xmlns:r="http://schemas.openxmlformats.org/officeDocument/2006/relationships" id="260" r:id="Rbb6740655fb74a05"/>
    <p:sldId xmlns:r="http://schemas.openxmlformats.org/officeDocument/2006/relationships" id="261" r:id="R91c0166e48344216"/>
    <p:sldId xmlns:r="http://schemas.openxmlformats.org/officeDocument/2006/relationships" id="262" r:id="Rf3e3dfc5a0884cba"/>
    <p:sldId xmlns:r="http://schemas.openxmlformats.org/officeDocument/2006/relationships" id="263" r:id="R2f07c418c8c84218"/>
    <p:sldId xmlns:r="http://schemas.openxmlformats.org/officeDocument/2006/relationships" id="264" r:id="R5ab96aedef054e26"/>
    <p:sldId xmlns:r="http://schemas.openxmlformats.org/officeDocument/2006/relationships" id="265" r:id="R7feb7a6c528d4e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d059437c36477a" /><Relationship Type="http://schemas.openxmlformats.org/officeDocument/2006/relationships/slideMaster" Target="/ppt/slideMasters/slideMaster1.xml" Id="R381626fb31a24bab" /><Relationship Type="http://schemas.openxmlformats.org/officeDocument/2006/relationships/notesMaster" Target="/ppt/notesMasters/notesMaster1.xml" Id="R89bd36d5d18d46bf" /><Relationship Type="http://schemas.openxmlformats.org/officeDocument/2006/relationships/presProps" Target="/ppt/presProps.xml" Id="R60259bcb66874e15" /><Relationship Type="http://schemas.openxmlformats.org/officeDocument/2006/relationships/viewProps" Target="/ppt/viewProps.xml" Id="R927c5f6a07914c47" /><Relationship Type="http://schemas.openxmlformats.org/officeDocument/2006/relationships/tableStyles" Target="/ppt/tableStyles.xml" Id="Rd7965206e49c4cfe" /><Relationship Type="http://schemas.openxmlformats.org/officeDocument/2006/relationships/slide" Target="/ppt/slides/slide1.xml" Id="R52adebec2d0e41d0" /><Relationship Type="http://schemas.openxmlformats.org/officeDocument/2006/relationships/slide" Target="/ppt/slides/slide2.xml" Id="R0df8090f27da40b2" /><Relationship Type="http://schemas.openxmlformats.org/officeDocument/2006/relationships/slide" Target="/ppt/slides/slide3.xml" Id="R150710305d8449c3" /><Relationship Type="http://schemas.openxmlformats.org/officeDocument/2006/relationships/slide" Target="/ppt/slides/slide4.xml" Id="Rb90ad9b18c7c44cd" /><Relationship Type="http://schemas.openxmlformats.org/officeDocument/2006/relationships/slide" Target="/ppt/slides/slide5.xml" Id="Rbb6740655fb74a05" /><Relationship Type="http://schemas.openxmlformats.org/officeDocument/2006/relationships/slide" Target="/ppt/slides/slide6.xml" Id="R91c0166e48344216" /><Relationship Type="http://schemas.openxmlformats.org/officeDocument/2006/relationships/slide" Target="/ppt/slides/slide7.xml" Id="Rf3e3dfc5a0884cba" /><Relationship Type="http://schemas.openxmlformats.org/officeDocument/2006/relationships/slide" Target="/ppt/slides/slide8.xml" Id="R2f07c418c8c84218" /><Relationship Type="http://schemas.openxmlformats.org/officeDocument/2006/relationships/slide" Target="/ppt/slides/slide9.xml" Id="R5ab96aedef054e26" /><Relationship Type="http://schemas.openxmlformats.org/officeDocument/2006/relationships/slide" Target="/ppt/slides/slide10.xml" Id="R7feb7a6c528d4e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eef08517c148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e0393f829b418c" /><Relationship Type="http://schemas.openxmlformats.org/officeDocument/2006/relationships/notesMaster" Target="/ppt/notesMasters/notesMaster1.xml" Id="Rc5409656ca3445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6ff1c8b4ca4938" /><Relationship Type="http://schemas.openxmlformats.org/officeDocument/2006/relationships/notesMaster" Target="/ppt/notesMasters/notesMaster1.xml" Id="R52b1cffe9bff48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52ca46d1f84f4c" /><Relationship Type="http://schemas.openxmlformats.org/officeDocument/2006/relationships/notesMaster" Target="/ppt/notesMasters/notesMaster1.xml" Id="Rd3600386d26945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20813919f74ab9" /><Relationship Type="http://schemas.openxmlformats.org/officeDocument/2006/relationships/notesMaster" Target="/ppt/notesMasters/notesMaster1.xml" Id="R200669ce532948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b07fc77a0f495f" /><Relationship Type="http://schemas.openxmlformats.org/officeDocument/2006/relationships/notesMaster" Target="/ppt/notesMasters/notesMaster1.xml" Id="R49688723d95a4b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3b63db1a554d5c" /><Relationship Type="http://schemas.openxmlformats.org/officeDocument/2006/relationships/notesMaster" Target="/ppt/notesMasters/notesMaster1.xml" Id="Ra41c5098dcc84c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a4772c54024965" /><Relationship Type="http://schemas.openxmlformats.org/officeDocument/2006/relationships/notesMaster" Target="/ppt/notesMasters/notesMaster1.xml" Id="R1092f937c06a41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b1435d8d084e41" /><Relationship Type="http://schemas.openxmlformats.org/officeDocument/2006/relationships/notesMaster" Target="/ppt/notesMasters/notesMaster1.xml" Id="Rd1f0aecf98c54c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432a79355d4d8e" /><Relationship Type="http://schemas.openxmlformats.org/officeDocument/2006/relationships/notesMaster" Target="/ppt/notesMasters/notesMaster1.xml" Id="Rc9f4b05a6ef04c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de26eeac4a450f" /><Relationship Type="http://schemas.openxmlformats.org/officeDocument/2006/relationships/notesMaster" Target="/ppt/notesMasters/notesMaster1.xml" Id="Rd7668053732c4d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b8c4efb934a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6005699a424f44" /><Relationship Type="http://schemas.openxmlformats.org/officeDocument/2006/relationships/slideLayout" Target="/ppt/slideLayouts/slideLayout1.xml" Id="R0d62369dab2e47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62369dab2e47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998e59b8e40ca" /><Relationship Type="http://schemas.openxmlformats.org/officeDocument/2006/relationships/notesSlide" Target="/ppt/notesSlides/notesSlide1.xml" Id="Ra70a46bde21947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ec24562ef4369" /><Relationship Type="http://schemas.openxmlformats.org/officeDocument/2006/relationships/notesSlide" Target="/ppt/notesSlides/notesSlide2.xml" Id="R98653a1aa0ab40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567de1966471d" /><Relationship Type="http://schemas.openxmlformats.org/officeDocument/2006/relationships/image" Target="/ppt/media/image.png" Id="R980f4e55d74c45ff" /><Relationship Type="http://schemas.openxmlformats.org/officeDocument/2006/relationships/notesSlide" Target="/ppt/notesSlides/notesSlide3.xml" Id="R18495895a1d645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0ee41d54d4c16" /><Relationship Type="http://schemas.openxmlformats.org/officeDocument/2006/relationships/notesSlide" Target="/ppt/notesSlides/notesSlide4.xml" Id="Rc4e1ca39375448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7711633a441a1" /><Relationship Type="http://schemas.openxmlformats.org/officeDocument/2006/relationships/image" Target="/ppt/media/image2.png" Id="Re493b25a72824a9e" /><Relationship Type="http://schemas.openxmlformats.org/officeDocument/2006/relationships/image" Target="/ppt/media/image3.png" Id="Re44adbd16f184c44" /><Relationship Type="http://schemas.openxmlformats.org/officeDocument/2006/relationships/notesSlide" Target="/ppt/notesSlides/notesSlide5.xml" Id="R0016c80101054f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e86fc8c61497d" /><Relationship Type="http://schemas.openxmlformats.org/officeDocument/2006/relationships/notesSlide" Target="/ppt/notesSlides/notesSlide6.xml" Id="R287800fbce3245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d4c90a437474c" /><Relationship Type="http://schemas.openxmlformats.org/officeDocument/2006/relationships/notesSlide" Target="/ppt/notesSlides/notesSlide7.xml" Id="Rdd6d5877f46540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a854dbcb34fe4" /><Relationship Type="http://schemas.openxmlformats.org/officeDocument/2006/relationships/notesSlide" Target="/ppt/notesSlides/notesSlide8.xml" Id="R41aa0b13426b42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508d169a84931" /><Relationship Type="http://schemas.openxmlformats.org/officeDocument/2006/relationships/notesSlide" Target="/ppt/notesSlides/notesSlide9.xml" Id="R4f596cdb746a49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7f8d303ba4177" /><Relationship Type="http://schemas.openxmlformats.org/officeDocument/2006/relationships/image" Target="/ppt/media/image4.png" Id="R41cfe2c9d8eb448c" /><Relationship Type="http://schemas.openxmlformats.org/officeDocument/2006/relationships/notesSlide" Target="/ppt/notesSlides/notesSlide10.xml" Id="R80e583279cb24c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A41304-EEFF-459D-B3C3-3DC367C0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4AD54-31D2-4E8F-85A7-8F932AE7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DB59C-2C38-42C0-8CB8-D515C535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CEFEA-CFBB-4661-AC58-810BAA47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Every architecture decision costs twice: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E8AE6-DE2E-4DC0-BC11-55117C8E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Once to make. Again every time the team has to rediscover why.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F9D34-128A-4F79-9786-BA701D94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38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ABCFA-CC4C-4787-97D9-933F7D4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ECHOMIND  /  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674F2-7BCB-44C5-8ED2-0586559F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056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DEDCB-AAC9-41AF-834D-7EF1FE57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9DCD4-2038-49DE-8B04-B8952686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81F0B-189C-41F1-A5A7-12D06DC6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764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SLACK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DF543-2DBF-49D6-B773-25607D4E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479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Tradeoffs debated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2D136-A024-49FA-825A-A9249725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046CA-CFEE-4B16-97B9-62874F22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9077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C87B2-BE66-4690-B653-7ABB1757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66D29-65F3-4A99-B0D2-AD469C0C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FDE6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730D5-D3F9-4CD7-AFC8-C61CC360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432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JIRA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A387A-695E-40F7-BF4A-F06B9381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146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Work broken down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915B7-304D-459D-8689-863EDC29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4451F-E8CF-4EAE-8E6A-A0100EA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5752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D4964-A730-44FF-A261-D6F2E59F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2B6E89-7445-4213-9583-4D7522C8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86EFA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0AB99-1A7F-404A-947D-BA606F28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099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943C5-4FC2-463F-80F0-D985741D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814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Implementation changed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719604-A167-4EDA-81CC-EB6D80B2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623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201ED4-CEFE-4F8D-BC4D-8EF12562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2427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7E0B2-7CD3-43DA-817A-581AC384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FDA4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B3388-7E8A-4605-BD06-07D8781B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solidFill>
              <a:srgbClr val="FDA4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22FB0C-6A36-4AE8-9E2D-4AD79457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767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DA4A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DA4AF"/>
                </a:solidFill>
                <a:latin typeface="Aptos"/>
                <a:ea typeface="Aptos"/>
                <a:cs typeface="Aptos"/>
              </a:rPr>
              <a:t>PAGERDUTY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2FF986-1601-46BA-8A61-B9C7931B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481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Incident pressure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791C27-EC3D-4EF5-83C6-4AB2CD65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291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B68744-2DA0-45B2-9B89-560772CE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9102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52339F-B104-4386-970E-4CCB6289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769DFC-605B-4250-A0D3-7014608F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6C85CB-25E5-4839-8884-173DAECD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434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ARCH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4C25B6-B023-4B41-A401-F4F4440E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149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Decision approved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0CB091-9939-493B-A4F5-5D7CE4ED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958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CC731E-5994-4FB1-A2D1-3B766CA8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5777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023A88-D4CB-451F-B916-CA0F585C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69532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101823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745B60-A4A6-4882-9276-29EB713B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19375"/>
            <a:ext cx="1952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7"/>
          </a:solidFill>
          <a:ln xmlns:a="http://schemas.openxmlformats.org/drawingml/2006/main" w="9525">
            <a:solidFill>
              <a:srgbClr val="FDA4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4DB28A-4555-46F8-A294-83A8A75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67000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DA4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DA4AF"/>
                </a:solidFill>
                <a:latin typeface="Aptos"/>
                <a:ea typeface="Aptos"/>
                <a:cs typeface="Aptos"/>
              </a:rPr>
              <a:t>THE RECURRING QUESTION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46CEFD-CE93-4A4E-855C-2C16F23A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76575"/>
            <a:ext cx="6048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“Why was checkout designed this way?”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22B69B-5301-4CC7-BA0D-B5F25FF2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4335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Search returns fragments. The team reconstructs the story manually, interrupts senior engineers, and repeats old debates.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7262FB-D96E-47BC-9820-6FE42D4F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1012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5 tools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56641B-5547-4AD6-B219-42E2CA28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9112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one decision story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4FC27C-31DE-4925-93CF-BD86104D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01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DA4A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DA4AF"/>
                </a:solidFill>
                <a:latin typeface="Aptos"/>
                <a:ea typeface="Aptos"/>
                <a:cs typeface="Aptos"/>
              </a:rPr>
              <a:t>0 context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D9FB90-ECF7-4324-AC7F-1333F406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between the records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220A08-10BC-4C59-B2B0-8E7B5D60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1012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hours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12DDF6-CFA7-4189-B786-C885640D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91125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lost rediscovering why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69E7E9-42F8-4A52-8461-578D2F6E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34075"/>
            <a:ext cx="923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context tax compounds with every project, incident, and teammate.</a:t>
            </a:r>
          </a:p>
        </p:txBody>
      </p:sp>
    </p:spTree>
    <p:extLst>
      <p:ext uri="{BB962C8B-B14F-4D97-AF65-F5344CB8AC3E}">
        <p14:creationId xmlns:p14="http://schemas.microsoft.com/office/powerpoint/2010/main" val="11559325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7E2FE9-F046-46E0-8F39-7BEC4479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43920-7D16-4299-A40A-EAD3019F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D885E-464D-4E69-938F-FB5D2907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EXISTING SOLUTIONS &amp; GAPS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4EF28-98EE-44D2-B30B-E9FF4EC2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Search finds documents. It does not reconstruct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9BDBC-9269-4512-A911-DA098AF5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The missing product is the connective tissue between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22062-F3FC-4C9B-98E5-BDC757D9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38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2334E-AF27-46CB-AD00-9A5FF606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ECHOMIND  /  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1882D-9FE4-493E-815F-AA9580DE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056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165E2-4E68-45DD-979D-7F45F897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WHAT TEAMS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CF0D5-EF4F-46D3-AA9B-CCF71556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574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WHAT IT RETURNS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FA767-A808-4071-B6A2-52F983AE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WHAT IS STILL MISSING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B4D7C-E29E-4EE7-AD3A-EA9D538D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52675"/>
            <a:ext cx="874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33FE3-DB63-4F7D-BBD5-66E3F181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0C23F-7C6C-48CB-A451-8F338DA1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05075"/>
            <a:ext cx="2333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Search + Slack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F60B3-D9C3-4922-8C9A-487FF608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05075"/>
            <a:ext cx="238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Messages and keywords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BEF02-482D-46D4-94F8-E56E10D1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05075"/>
            <a:ext cx="2571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Causal 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DD0FC-FECB-46B0-93C4-8686D2BB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0375"/>
            <a:ext cx="874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47AD8-DDDE-4DFD-AA16-FD9FBFBC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FDE6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4B28B-DC2A-4996-AC59-57D00C2C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52775"/>
            <a:ext cx="2333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Wikis + ADRs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A7B1E-3BE9-46C8-B558-14ACB4AD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52775"/>
            <a:ext cx="238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Curated snapshots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7DE58-025B-4A76-8DB5-19405287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571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Real implementation trail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766BD-D6DA-4423-A474-D7383555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48075"/>
            <a:ext cx="874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8B5941-7A05-4823-B457-C4961CB0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solidFill>
              <a:srgbClr val="FDA4A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3A681-A5DD-4A9A-96D1-5E90DD13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00475"/>
            <a:ext cx="2333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Generic AI chat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1015B-AAF4-4F9C-AD91-08864006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00475"/>
            <a:ext cx="238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A fluent paragraph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AE28A1-7723-43D0-ACD3-EA1EC52C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00475"/>
            <a:ext cx="2571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Verifiable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8894CB-5951-40EF-939F-94D0254B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95775"/>
            <a:ext cx="874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0A2CEB-3F96-42B5-BBA9-754F65EB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86EFA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6980C-3302-4258-BA2F-9E8EAEE7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48175"/>
            <a:ext cx="2333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Ask a senior engineer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0A3B8D-1CD8-480A-B52B-715031D8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48175"/>
            <a:ext cx="238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High-value 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05C3D0-5193-437F-9191-165A6BDA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48175"/>
            <a:ext cx="2571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Scalable company memory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11D3E3-D071-4359-BBD0-92B21106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90750"/>
            <a:ext cx="2095500" cy="2857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02A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BC60FA-490A-4984-8B6F-7C2D0C2D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5745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ECHOMIND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49710A-13D2-4638-A61F-3C614EDA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95275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Connect records first.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BDBE68-F904-4151-BED8-0F5A7DA0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90925"/>
            <a:ext cx="885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232050-72DD-45D0-A611-D20209B1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355282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FCBFE4-ECB8-449C-83E1-70707FAC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14775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Then explain the decision with citations.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81B402-1E0C-43F3-B490-240AA58D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695825"/>
            <a:ext cx="1571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The answer remains inspectable.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7D4110-6F21-4E0C-B0DF-B0697621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7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38EA76-C185-4BD8-87F3-0DD76BB6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768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DIFFERENTIATOR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BC72C2-E97D-4069-BF2C-5DF7DF6A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483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EchoMind reconstructs the story between documents.</a:t>
            </a:r>
          </a:p>
        </p:txBody>
      </p:sp>
    </p:spTree>
    <p:extLst>
      <p:ext uri="{BB962C8B-B14F-4D97-AF65-F5344CB8AC3E}">
        <p14:creationId xmlns:p14="http://schemas.microsoft.com/office/powerpoint/2010/main" val="9261071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95701A-A7F2-4130-A17E-B33FB39E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207DA-658C-40DE-90DB-38B39760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F6213-CB6F-4DDD-97FF-E61C4C89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92A43-2A38-4098-9079-2C053E9F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Scattered work becomes an evidence-backed company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0AF60-F884-4C71-ADB5-CEAD9C46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Ask naturally. Understand the story. Inspect every source.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FB108-3C7F-4505-856D-E5C4102F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38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5719E-1FC3-4878-B010-6313A695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ECHOMIND  /  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937E1-3D06-4DBE-BAA5-51CB6235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056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2DE74-3085-4922-902B-A8B80BE3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095500"/>
            <a:ext cx="7143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A1018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f4e55d74c45ff"/>
          <a:srcRect xmlns:a="http://schemas.openxmlformats.org/drawingml/2006/main" l="0" t="751" r="0" b="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143125"/>
            <a:ext cx="7048500" cy="3905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9454D-7BA8-4D17-BA51-31FA8F5C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5500A-CECE-476B-B919-7032651C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WORKING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16547-01B5-4A40-8A9E-C69A1E6D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One answer, four trust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C5B63-B664-4CC2-A1FC-DB2F0A0A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194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8A44F-5241-49EB-B020-6B309ED3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19450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Polished explanation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66F11-4727-4507-B3CA-007A2EAE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3000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The result reads like a teammate who understands the history.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4338C-8330-450D-8E72-A8DBFAE4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1000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5AD7F-54EB-4DF0-8316-27AEA04D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0000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Confidence + evidence mix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528DA-4C97-41AB-AB6C-D6BF561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19550"/>
            <a:ext cx="3000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Users see what supports the answer.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B16D9-165C-4B69-8EF2-244710D7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005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E7A81-8C33-4CCA-88CF-94EB5C23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Contributors + timeline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71F4F-077B-499F-AA38-A51B342E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0100"/>
            <a:ext cx="3000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The people and evolution stay connected.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1F3BD-0673-4E86-919C-33F6B06C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9110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5A406-0837-418E-97D1-C2684EB8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91100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Original source records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0AE93-B11E-47FE-9EAE-65C2BEF9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00650"/>
            <a:ext cx="3000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Every citation can be inspected.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60ECA-7B0A-4DE7-A009-B08102F5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76950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95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583D6E-E8A5-4329-9BE2-68DA9EDD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381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connected records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D74D55-8FEB-4398-A9B8-E6B5D0EC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7695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94047-6EC0-4216-8090-90DD92DD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45795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decisions + incidents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8377B7-184B-429E-B3CF-40537DDC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0769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0343E4-F416-4ABE-A8CE-7A3412E0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57950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known experts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EFD948-ED60-432A-809C-1655B8F5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0769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E36446-0E04-4BEA-8019-FDAFABA7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457950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active projects</a:t>
            </a:r>
          </a:p>
        </p:txBody>
      </p:sp>
    </p:spTree>
    <p:extLst>
      <p:ext uri="{BB962C8B-B14F-4D97-AF65-F5344CB8AC3E}">
        <p14:creationId xmlns:p14="http://schemas.microsoft.com/office/powerpoint/2010/main" val="13348238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BD24B5-4B29-44B2-84DB-F4548764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0914F-A5BA-475A-9895-8E18E3E3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3253B-36E7-4DD2-BCEC-D201F0BC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1A22B-5289-4631-BB8C-8DF0E420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Evidence first. AI explains second.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74163-3C37-4D2E-9C9A-A095FDB9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Retrieval and relationships create the truth boundary; generation makes it readable.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13EC2-1580-46BD-90FE-C40D2283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38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E13D0-6F9E-4C51-A4A0-DF848B86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ECHOMIND  /  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111AA-8F2F-4E17-BE9D-C19BC943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056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18C99-92B9-426A-A7F0-AE5BF4E7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195262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91DE6-8ED4-419C-9293-B9D137A3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DCC55-D19D-481A-AA89-C05C0978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A1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A1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56C61-CE9C-477A-9B74-9F9D4BC2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42CF6-3914-4BE3-99B1-9CD38530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57525"/>
            <a:ext cx="16097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Jira · GitHub · Slack</a:t>
            </a:r>
          </a:p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Incidents · Reviews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F4F9E-9797-4FDD-91C8-7D12FD11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242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5BD05-DB8D-4B20-978E-9393E5D0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8610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73988-3D6E-4DE8-A5F3-8B880826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52675"/>
            <a:ext cx="195262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CC909-14CC-4BB4-B36F-BCB8E6F6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3E153-F59B-429F-BA4D-9E0B9DFE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09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A1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A1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3658E-4553-4FF2-986B-481199CD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09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743C2-F437-44A0-92D2-F03452F1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57525"/>
            <a:ext cx="16097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People · Projects</a:t>
            </a:r>
          </a:p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Decisions · 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BB244-032D-423D-9506-DA2016D4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CF9AD-17D6-4B3E-A608-9B77C4CC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8610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A742F1-EBBF-492B-8E9D-D6B0F3FD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52675"/>
            <a:ext cx="195262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2CE26B-0106-4470-BAE4-40EB5ED2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FDE6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2D6893-972C-430F-897C-DC6A8F39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09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A1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A1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E8201-D309-4B04-8AC9-4DEF1303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09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54BCDE-CD74-43C7-A13E-3C9928A6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57525"/>
            <a:ext cx="16097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Rank the strongest</a:t>
            </a:r>
          </a:p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related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26323D-84B4-4623-BC0C-C594C351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242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926978-EFC5-4F59-A7E7-382C12BA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8610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EF4A89-D690-4B3E-85D5-E93E2CF4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352675"/>
            <a:ext cx="195262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72FD87-46EF-4D3E-AC8C-C40EBD41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86EFA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2C21C2-00CA-41EA-B5C1-7DDC0DA5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609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A1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A1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0484ED-C88A-47D9-BEF9-6997AA3E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09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887FB0-01B3-4028-97F8-C03BB018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16097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Ollama / OpenAI</a:t>
            </a:r>
          </a:p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or local fallback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035C38-E5D2-4261-AA81-E2B081DC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242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C3C844-6CD9-4473-B427-74D56E62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8610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7B1B24-D3B9-436B-8725-7B1238D5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52675"/>
            <a:ext cx="195262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FDA4A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D1E340-9969-40DB-B669-6F80376D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solidFill>
              <a:srgbClr val="FDA4A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C9EC17-FEF7-4884-BA65-C3A4EE55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09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A1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A1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02B7DC-5283-4DBF-B11A-009C01A6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09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DA4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DA4AF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B0BD12-AB0B-4B7F-BB3A-E8030ACC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57525"/>
            <a:ext cx="16097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Citations + source-</a:t>
            </a:r>
          </a:p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style records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7D9DDA-4F1A-4C80-8332-8476AC06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2776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3ED1B7-344D-4A60-B7A0-E43D5BEC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7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42467D-F591-465D-B5F9-46E4F750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TRUST BOUNDARY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41600B-08F2-4A82-A2CE-E0DC321B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Connected evidence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42C27B-D7E3-4A95-9D16-FC0137AA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981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5337A5-A407-4818-B376-9BAD9784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10540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6C30FA-EA4C-4886-9B68-2CEDC6ED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91100"/>
            <a:ext cx="2619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Grounded evidence package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E6BCAF-3B02-4D7E-9795-CF4784CF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43500"/>
            <a:ext cx="981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86EFA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634A34-7752-48BF-AFF5-B00B981C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10540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86EFA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D23590-8411-40B4-B995-1B7D98A4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911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Readable answer + citations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84B52C-34BE-4B6F-B4E3-B51F15E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The model never replaces retrieval. It explains what retrieval found.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322DFF-64CE-4529-A862-3886D3F2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67425"/>
            <a:ext cx="1127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Reliable demo path today · Neo4j-backed production path next</a:t>
            </a:r>
          </a:p>
        </p:txBody>
      </p:sp>
    </p:spTree>
    <p:extLst>
      <p:ext uri="{BB962C8B-B14F-4D97-AF65-F5344CB8AC3E}">
        <p14:creationId xmlns:p14="http://schemas.microsoft.com/office/powerpoint/2010/main" val="3546795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7D6523-5D69-4E8B-878A-87DA35FD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93C54-96D7-47CE-9CC6-D76C1A94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A70A1-88F3-4D77-B5CE-3929472C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KEY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08FF5-C0BE-44A2-8E0C-2511D634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One memory answers the three questions that slow teams down.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F7CCA-A7FD-4818-B558-65BEBD9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Different questions, one connected evidence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E9908-7032-4F38-BF33-73A95E3B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38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B074C-320C-4D03-9703-96E6D925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ECHOMIND  /  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CA2AF-D53A-48DA-904E-B8CAF6C9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056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BBE98-CB5F-4574-AA40-17F12DF9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085975"/>
            <a:ext cx="5191125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0A1018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3b25a72824a9e"/>
          <a:srcRect xmlns:a="http://schemas.openxmlformats.org/drawingml/2006/main" l="504" t="0" r="5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133600"/>
            <a:ext cx="5095875" cy="2895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E0C55-85F5-4E02-B144-F506A875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85975"/>
            <a:ext cx="5495925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0A1018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adbd16f184c44"/>
          <a:srcRect xmlns:a="http://schemas.openxmlformats.org/drawingml/2006/main" l="0" t="2342" r="0" b="23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38825" y="2133600"/>
            <a:ext cx="5400675" cy="2895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53F6C-09F9-4F77-AC62-829C73A7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WHY?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6D3C9-AE7B-48A6-A491-FB225C1B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Decision Time Machine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344B8-C268-4663-A73F-749358D3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864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Reconstructs incidents, tradeoffs, and implementation.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BFE0E-7C67-47C7-8F33-FEB2969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8162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WHO?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F800F-F970-4B7F-8DA9-41AFBD0E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19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Expert Discovery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5D37B-7979-4882-80E2-17DEC9DA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8864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Ranks people from demonstrated contributions.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17186-A551-48E9-869E-A211835F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8162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HOW?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68255-1671-4BA2-BFA6-C5E7D535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19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Timeline Explorer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5E62A-A582-4F29-BC8C-B6C6C3BE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8864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Turns project events into a chronological story.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8648FA-F0EE-4009-A8A5-0218A21A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8162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DA4A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DA4AF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0A43B8-E738-45F6-9179-E6D5C8EF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19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Traceable 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7DE81-1F78-4F28-91A6-85ED147F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8864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Opens every citation in its original context.</a:t>
            </a:r>
          </a:p>
        </p:txBody>
      </p:sp>
    </p:spTree>
    <p:extLst>
      <p:ext uri="{BB962C8B-B14F-4D97-AF65-F5344CB8AC3E}">
        <p14:creationId xmlns:p14="http://schemas.microsoft.com/office/powerpoint/2010/main" val="18511220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DD8F59-3FFB-4183-96E5-46610C46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851E0-D5E8-451E-A8D4-EADEFDA7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29D38-FB0D-42F4-ADBE-0051F7D0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B59A6-61F3-48AC-BB6A-5897A1AC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 95 seconds, judges see the full trust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BA6AF-A876-4B3A-9698-5C242A95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Each interaction proves a different part of the product.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13F25-A89D-4B13-B4AB-706B35FF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38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FF602-D464-4D41-9AA3-3A6660DB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ECHOMIND  /  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66289-0CAD-4457-AF63-606347EC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056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441C7-8613-4927-AD59-AF1E70E3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4BA57-3377-40FD-8931-1A5E9D31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A3AD2-3F8F-4E2D-AEEB-7EE342FB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00s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AAF16-DA0B-47D3-9515-310FBF95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ASK WHY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FED52-2694-47CE-8AF2-D12BA8F0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Natural-language 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13060-B180-456C-9068-7B0AE9F2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86EFA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CAC35-8753-4070-821C-8AFB3E82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955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18s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C9349-E678-4884-82D6-3CC44E51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433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58748-0D64-4EB9-AB73-021F3103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5762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Grounded synthesis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B883D-8E33-466A-BB72-536F1D76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solidFill>
              <a:srgbClr val="FDA4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018B7-5B82-43FA-B6C5-2F0EEC20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DA4A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DA4AF"/>
                </a:solidFill>
                <a:latin typeface="Aptos"/>
                <a:ea typeface="Aptos"/>
                <a:cs typeface="Aptos"/>
              </a:rPr>
              <a:t>32s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9D0E58-4C9D-40FA-A0A2-D04E6174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33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OPEN 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166F4-BD2F-43FD-BDCF-5EA3A2C4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5762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Traceable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FB25F-6C1E-46BF-A818-D21A3F91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B9343-EE96-46E4-88D5-3694A95F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42s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790F30-7897-402C-8B10-8ED411F4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FIND EXPERT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53C554-7AF7-4051-A818-971CE897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Contribution ranking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E17E4-3BDF-486A-822A-E305A97B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FDE6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6978F-1A9B-4820-B835-50C05C58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58s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FD3485-52BE-4197-99F0-D83474AA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SEE TIMELINE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929F0D-2648-4EA9-B1B4-AF270B1D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5762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Evolution reconstructed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C42916-103E-4A46-8C40-DD480795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15142-9983-48A3-BAC8-D5E50CF7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955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79s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F8BF6B-7B5D-419D-8AB1-E5E4368E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433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EXPLORE MEMORY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7BF364-BF6B-4E3C-ACC6-45ECCE50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5762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Connected company map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1152C0-42BB-4540-B386-0129A89A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95825"/>
            <a:ext cx="10210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02A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B3B28B-C0E7-4E2C-92AD-3474C06E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WHAT JUDGES SHOULD NOTICE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C8D8BD-5C02-4C39-8E74-42A7A592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answer is useful. The evidence is inspectable. The memory connects people, decisions, and time.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D9EA1A-B885-455B-9693-16B8DBD2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1277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Calm pacing · no hidden setup · no unfinished screens</a:t>
            </a:r>
          </a:p>
        </p:txBody>
      </p:sp>
    </p:spTree>
    <p:extLst>
      <p:ext uri="{BB962C8B-B14F-4D97-AF65-F5344CB8AC3E}">
        <p14:creationId xmlns:p14="http://schemas.microsoft.com/office/powerpoint/2010/main" val="3907442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665FA7-535C-48B9-AF68-E1450322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3C55B-8019-4C2C-8CF9-CE45CB04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E2833-49BF-4B8B-ACB5-8130E049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TECHNICAL INNOVATION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837B6-C6B5-4905-94EF-258F503E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Graph-connected evidence keeps AI useful and accountable.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DDBD3-C93E-4F80-B709-EDC6F6DE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The hard part is not calling a model. It is constructing a trustworthy evidence package.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C90CF-A79B-476F-8240-ABD4DD03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38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4AF10-958D-45FE-9424-31A9C338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ECHOMIND  /  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141A1-5DF6-4506-98C2-02C01939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056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9D436-AF5A-4F52-9962-290C1155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19325"/>
            <a:ext cx="714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E772E-519D-4AFC-B087-C027527F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ANSWER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264A7-5CBF-4CFD-B2A9-81DF7E61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647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React + Tailwind · confidence · citations · memory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DD16F-7331-436D-8865-DB05CA8F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714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02A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EAD97-0FE7-4B46-B5F4-B9830113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MEMORY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2232F-AE58-43ED-963F-6AFDC9F9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43325"/>
            <a:ext cx="647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Relationship retrieval · evidence ranking · expert scoring · timeline reconstruction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882D2-03F1-4559-B2EC-EBB860D6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0075"/>
            <a:ext cx="714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67CC4-5911-4570-8ADB-5F9197F3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SOURCE + AI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60A5B-6EF9-4E8F-BD1D-E21785FF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47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Synthetic connectors · Ollama/OpenAI synthesis · deterministic grounded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4EE3A-1FE2-4596-AEEF-991CA7AA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19325"/>
            <a:ext cx="3190875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65974-664C-4FA4-BF7E-3350BE27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57450"/>
            <a:ext cx="2686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ENGINEERING CHALLENGES SOLVED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AB48B-E53E-4101-B717-4D716DF9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14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617EE-25EE-48BB-8926-3A7FC133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76550"/>
            <a:ext cx="2428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Relationship-aware retrieval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C8D2E-0CF0-4FA0-B2D4-C45B04A3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67050"/>
            <a:ext cx="2428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Connects the story across record types.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66421-333B-4514-BF81-1C4FD4DE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67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140EFE-F473-4372-B3E1-EB4C83DF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429000"/>
            <a:ext cx="2428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Explainable answers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22744-D1E2-4FB1-B0A6-C311991B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619500"/>
            <a:ext cx="2428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Keeps citations beside the explanation.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E0B38C-B0D7-4B27-8C95-12B106FE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86EFA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7BF35-A079-457A-8C89-CA2458C1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981450"/>
            <a:ext cx="2428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 reliability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13B4E-F8AF-4D13-9B47-BE021194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171950"/>
            <a:ext cx="2428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Works even when an AI provider is offline.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6A9FD2-B2EF-43A1-91A2-FC065730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572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AC50EF-32F9-49FC-9980-6201E0C7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533900"/>
            <a:ext cx="2428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Production direction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D8D19-642D-4CCF-8462-0A01CECD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724400"/>
            <a:ext cx="2428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React · Spring Boot · Neo4j · FastAPI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11141E-1F2D-4862-8ED2-4BD9FC4E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48325"/>
            <a:ext cx="1476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8465C8-E925-428A-8276-64AF32FA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1476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CD233E-5CD8-4D9F-B5BF-C3C56334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67375"/>
            <a:ext cx="823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improves the explanation; connected evidence protects the truth.</a:t>
            </a:r>
          </a:p>
        </p:txBody>
      </p:sp>
    </p:spTree>
    <p:extLst>
      <p:ext uri="{BB962C8B-B14F-4D97-AF65-F5344CB8AC3E}">
        <p14:creationId xmlns:p14="http://schemas.microsoft.com/office/powerpoint/2010/main" val="8505348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A6CAA7-D0C0-4853-A287-A3F72C2E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753D4-BB77-4A22-AEE0-37173E67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3B3DC-B878-4251-9F3B-96F4D10F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BUSINESS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0B55C-BFEE-47EC-B6F6-826D523E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 small reduction in context-hunting returns weeks of capacity.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08427-4ACC-455F-820B-B791C3CD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Illustrative team scenario — transparent assumptions, not measured customer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1CD5D-CB99-4D4D-974A-48CEA66C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38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D6AE4-9F12-4887-97BF-1C7A3B33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ECHOMIND  /  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5A8AF-632F-4F98-91DF-F1EAAE00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056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DDC18-190C-41CA-80C4-231ABDB7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2428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AEFBA-8C83-47B9-A153-8D2FA764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5530E-092B-4972-80BA-204A75C6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engineers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827D8-F4A3-4FD0-8539-D16F703E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76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4C390-363D-4293-B04D-70C87B48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86000"/>
            <a:ext cx="2428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BE47E-5408-4FA2-A49C-C24A1E90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050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× 30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31F6D-32DF-48C9-BD27-B6B261AB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38475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saved / person / week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8A8CB-CB2E-44CE-A714-BC0172B7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676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40E20-A024-40DF-BE9E-FCB5EEE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86000"/>
            <a:ext cx="2428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7B290-2C3A-4E57-AFC0-7B95BBBC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050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= 25 hrs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F2CC0-33BD-47C3-BA7E-24B91781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38475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returned every week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2ED4A-2BEB-4337-8723-1E91C256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76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16DF8-D483-4014-B238-899517B6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86000"/>
            <a:ext cx="2428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003F8-E0F3-4C59-9408-33E2F41E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050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≈ $130K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E962D-4195-4EA7-8A19-53CFAF06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38475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annual capacity at $100/hr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0726F-F1A3-4DEA-B516-7FA29EC0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148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2CFBF-3F88-4A37-A0DE-6EF5E7A1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NEW HIRES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777116-9FA2-4E20-A552-D9424F50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Understand why the system looks this way.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38F0B-DCA8-430F-A59A-A6389D7A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148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FA5BE5-103F-48DB-82E0-3725D0F8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DA4A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DA4AF"/>
                </a:solidFill>
                <a:latin typeface="Aptos"/>
                <a:ea typeface="Aptos"/>
                <a:cs typeface="Aptos"/>
              </a:rPr>
              <a:t>INCIDENT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D7DC71-6BA3-4C99-ADE6-45801201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1962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Find context and owners without chasing people.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2C45C8-2AD6-473F-9974-19FA5F03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148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F01909-558B-406A-9A05-7FE597BE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148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TECH LEADS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6A1A03-496A-4847-AC9D-33E792B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1962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Defend decisions and avoid repeating debates.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9BDA31-9ECA-45E8-8357-F8DB83C8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047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deeper payoff: less dependency on individual memory and better decisions under pressure.</a:t>
            </a:r>
          </a:p>
        </p:txBody>
      </p:sp>
    </p:spTree>
    <p:extLst>
      <p:ext uri="{BB962C8B-B14F-4D97-AF65-F5344CB8AC3E}">
        <p14:creationId xmlns:p14="http://schemas.microsoft.com/office/powerpoint/2010/main" val="6452044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C57E1E-4BE3-40EE-BF2D-A97C21AD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69783-24BB-454F-A8F4-8983A31F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DA8A3-410D-44F6-BCF4-D3AA7743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FUTURE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18713-F68A-4A51-98AB-C4AE126C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From hackathon memory to the operating layer for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DD46A-BA83-44FD-8778-96AF0D53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Each horizon increases trust, coverage, and proactive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161DC-9C4B-4D79-80FA-F19EFEBF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38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37354-BA91-44EF-8D78-67F66593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ECHOMIND  /  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D0C1F-3A1A-465D-B9E9-0746636D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056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5E9DF-06E0-4C7C-9C10-A975212F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3333750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2F924-039E-4E01-988E-0C2CF637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66975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7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48E11-2D62-4AA6-B5F1-1C55E01E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E26E4-82EC-464F-A737-E40F23E3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62275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CONNECT REAL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6F91B-6436-490E-8D4E-C9E775DD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644D8-D2B1-4DED-BE38-52AC1E9C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Jira, GitHub, Slack, incidents</a:t>
            </a:r>
          </a:p>
          <a:p xmlns:a="http://schemas.openxmlformats.org/drawingml/2006/main">
            <a:pPr algn="l">
              <a:defRPr sz="11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Access controls + incremental sync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4C513-2462-4CDD-89D3-352D7309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767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374F6-1D7B-437D-90EF-1EAB1B01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Prove value with real team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0715D-CEA6-4388-A776-BE2B09EC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47900"/>
            <a:ext cx="3333750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5B181-64A3-4A54-A8FC-7E6C239F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66975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C2586-5994-49E3-BF1B-9C7B7A08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THEN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E4C13-A479-429F-8687-CBFD8BF5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62275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MEASURE TRUST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79D05-F0C4-4C70-9BAB-44710E55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5282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B63C7-5B9D-436A-BC14-606A5562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Neo4j graph retrieval + semantic search</a:t>
            </a:r>
          </a:p>
          <a:p xmlns:a="http://schemas.openxmlformats.org/drawingml/2006/main">
            <a:pPr algn="l">
              <a:defRPr sz="11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Answer evaluations + feedback loops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84CF3-FE83-4A60-A392-2E03405C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767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03CCA6-4DDE-4315-A374-BFDF7A42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149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Make quality measurable and repeatable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784A55-D167-4EB8-8B57-E21447D2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3333750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151A17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EB36D-89D8-4CE2-8125-135142B1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66975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7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1E84B1-3689-40CA-A93E-BF246F61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0A8B30-4235-4833-B61C-89ECABBF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62275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MAKE MEMORY PROACTIVE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78E0BB-43CA-4FE5-A457-94C4D3CB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5282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715DC5-41BF-4EF0-97F4-F8CC27EB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Decision capture + change-impact alerts</a:t>
            </a:r>
          </a:p>
          <a:p xmlns:a="http://schemas.openxmlformats.org/drawingml/2006/main">
            <a:pPr algn="l">
              <a:defRPr sz="1125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Onboarding journeys + cross-team memory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CC19DF-14B3-4E36-AEA2-A9DA92B7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767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C33BDD-6D2C-4D94-9D7F-9CDA0C3C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Surface context before it is lost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C1EDD5-B2A1-4735-937C-9BF435FC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North star: the right context appears before a decision is repeated or an incident escalates.</a:t>
            </a:r>
          </a:p>
        </p:txBody>
      </p:sp>
    </p:spTree>
    <p:extLst>
      <p:ext uri="{BB962C8B-B14F-4D97-AF65-F5344CB8AC3E}">
        <p14:creationId xmlns:p14="http://schemas.microsoft.com/office/powerpoint/2010/main" val="1702695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C3232D-6D9F-447E-BB2C-0AFE43B8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C28AA-1436-4EA3-843A-51A47BCA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55B83-A428-4FAD-BC58-5977E3F8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WHY WE CAN WIN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8CCC1-64AF-4574-B249-D9BE13D6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Useful today. Technically defensible. Built for a universal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FF837-AF04-43A0-B903-3B12337C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B4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B4C7"/>
                </a:solidFill>
                <a:latin typeface="Aptos"/>
                <a:ea typeface="Aptos"/>
                <a:cs typeface="Aptos"/>
              </a:rPr>
              <a:t>EchoMind is a finished interaction with a credible path to enterprise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77DD9-A368-47C0-B1F0-E1267B3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38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1D922-97CD-464C-B1BD-2201A961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ECHOMIND  /  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65312-A669-4913-B726-BE02B6FA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056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809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809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5F904-2B75-44CE-9A91-55552B6C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66925"/>
            <a:ext cx="4667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A1018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fe2c9d8eb448c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114550"/>
            <a:ext cx="4572000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BAA4D-EE8F-40EB-B08D-D8FFCE44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1476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INNOVATION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7CE89-1B4E-4485-9217-04C03AE3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5572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Reconstructs decision history, not isolated documents.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17F5C-2519-4EEC-B4CB-3FADB20F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1476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TECHNICAL DEPTH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EDA1B-C1A4-40C0-A6B4-C9CE7D17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5572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Retrieval, graph relationships, ranking, AI synthesis,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1280A-30B3-4AB1-AE36-37009584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476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REAL-WORLD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0DD82-CA26-4041-9064-2BCE38BF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5572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Every growing engineering organization loses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30620-808F-4C92-A160-AA124AA7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1476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65C85-CE01-48B9-9E8E-FB336327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5572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Starts with engineering memory; expands across the company.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0F56A-F29C-4C81-B586-96CBFE23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95900"/>
            <a:ext cx="10744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02A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EA4A2-398B-44C9-874D-715C174C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1017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Companies should not forget why they became what they are.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B752B-0720-4C8C-A222-C66F6B87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0744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Ask what happened. Understand why.</a:t>
            </a:r>
          </a:p>
        </p:txBody>
      </p:sp>
    </p:spTree>
    <p:extLst>
      <p:ext uri="{BB962C8B-B14F-4D97-AF65-F5344CB8AC3E}">
        <p14:creationId xmlns:p14="http://schemas.microsoft.com/office/powerpoint/2010/main" val="312888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2026-06-07T11:12:09.7920000Z</dcterms:created>
  <dcterms:modified xsi:type="dcterms:W3CDTF">2026-06-07T11:12:09.7920000Z</dcterms:modified>
</coreProperties>
</file>