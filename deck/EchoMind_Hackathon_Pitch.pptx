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2a2174de1b48e2" /><Relationship Type="http://schemas.openxmlformats.org/officeDocument/2006/relationships/extended-properties" Target="/docProps/app.xml" Id="Rbf31a29129a84a44" /><Relationship Type="http://schemas.openxmlformats.org/officeDocument/2006/relationships/officeDocument" Target="/ppt/presentation.xml" Id="R9fe1321ee2554a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13fc2ee94c46f2"/>
  </p:sldMasterIdLst>
  <p:notesMasterIdLst>
    <p:notesMasterId xmlns:r="http://schemas.openxmlformats.org/officeDocument/2006/relationships" r:id="R8203db23a59c4e4a"/>
  </p:notesMasterIdLst>
  <p:sldIdLst>
    <p:sldId xmlns:r="http://schemas.openxmlformats.org/officeDocument/2006/relationships" id="256" r:id="Rd9e61d9ed0954670"/>
    <p:sldId xmlns:r="http://schemas.openxmlformats.org/officeDocument/2006/relationships" id="257" r:id="Rd304700cf32b4efe"/>
    <p:sldId xmlns:r="http://schemas.openxmlformats.org/officeDocument/2006/relationships" id="258" r:id="R76fa7d24bd044019"/>
    <p:sldId xmlns:r="http://schemas.openxmlformats.org/officeDocument/2006/relationships" id="259" r:id="R82715ee752264573"/>
    <p:sldId xmlns:r="http://schemas.openxmlformats.org/officeDocument/2006/relationships" id="260" r:id="Rce435ca593ee47c5"/>
    <p:sldId xmlns:r="http://schemas.openxmlformats.org/officeDocument/2006/relationships" id="261" r:id="R5b96e85edfc74224"/>
    <p:sldId xmlns:r="http://schemas.openxmlformats.org/officeDocument/2006/relationships" id="262" r:id="Rbe14709c0ab240f2"/>
    <p:sldId xmlns:r="http://schemas.openxmlformats.org/officeDocument/2006/relationships" id="263" r:id="Rcacb6e8d599f46c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b20b697f1f4671" /><Relationship Type="http://schemas.openxmlformats.org/officeDocument/2006/relationships/slideMaster" Target="/ppt/slideMasters/slideMaster1.xml" Id="Reb13fc2ee94c46f2" /><Relationship Type="http://schemas.openxmlformats.org/officeDocument/2006/relationships/notesMaster" Target="/ppt/notesMasters/notesMaster1.xml" Id="R8203db23a59c4e4a" /><Relationship Type="http://schemas.openxmlformats.org/officeDocument/2006/relationships/presProps" Target="/ppt/presProps.xml" Id="R1eea61e58b674893" /><Relationship Type="http://schemas.openxmlformats.org/officeDocument/2006/relationships/viewProps" Target="/ppt/viewProps.xml" Id="R95a9ee52b9e548cb" /><Relationship Type="http://schemas.openxmlformats.org/officeDocument/2006/relationships/tableStyles" Target="/ppt/tableStyles.xml" Id="R2d7a780cfbce426a" /><Relationship Type="http://schemas.openxmlformats.org/officeDocument/2006/relationships/slide" Target="/ppt/slides/slide1.xml" Id="Rd9e61d9ed0954670" /><Relationship Type="http://schemas.openxmlformats.org/officeDocument/2006/relationships/slide" Target="/ppt/slides/slide2.xml" Id="Rd304700cf32b4efe" /><Relationship Type="http://schemas.openxmlformats.org/officeDocument/2006/relationships/slide" Target="/ppt/slides/slide3.xml" Id="R76fa7d24bd044019" /><Relationship Type="http://schemas.openxmlformats.org/officeDocument/2006/relationships/slide" Target="/ppt/slides/slide4.xml" Id="R82715ee752264573" /><Relationship Type="http://schemas.openxmlformats.org/officeDocument/2006/relationships/slide" Target="/ppt/slides/slide5.xml" Id="Rce435ca593ee47c5" /><Relationship Type="http://schemas.openxmlformats.org/officeDocument/2006/relationships/slide" Target="/ppt/slides/slide6.xml" Id="R5b96e85edfc74224" /><Relationship Type="http://schemas.openxmlformats.org/officeDocument/2006/relationships/slide" Target="/ppt/slides/slide7.xml" Id="Rbe14709c0ab240f2" /><Relationship Type="http://schemas.openxmlformats.org/officeDocument/2006/relationships/slide" Target="/ppt/slides/slide8.xml" Id="Rcacb6e8d599f46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e00af6a2134d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968a6a73b04329" /><Relationship Type="http://schemas.openxmlformats.org/officeDocument/2006/relationships/notesMaster" Target="/ppt/notesMasters/notesMaster1.xml" Id="R77390818a81949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a19013731f43b4" /><Relationship Type="http://schemas.openxmlformats.org/officeDocument/2006/relationships/notesMaster" Target="/ppt/notesMasters/notesMaster1.xml" Id="R946210ca6f884b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402e25d68c4b3e" /><Relationship Type="http://schemas.openxmlformats.org/officeDocument/2006/relationships/notesMaster" Target="/ppt/notesMasters/notesMaster1.xml" Id="Rd46bd55963774c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abbb364f434f03" /><Relationship Type="http://schemas.openxmlformats.org/officeDocument/2006/relationships/notesMaster" Target="/ppt/notesMasters/notesMaster1.xml" Id="R9061dfaf74f541b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9b648fad65e4b97" /><Relationship Type="http://schemas.openxmlformats.org/officeDocument/2006/relationships/notesMaster" Target="/ppt/notesMasters/notesMaster1.xml" Id="R6345cb807d6945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49c64e02fd343b2" /><Relationship Type="http://schemas.openxmlformats.org/officeDocument/2006/relationships/notesMaster" Target="/ppt/notesMasters/notesMaster1.xml" Id="R63db60305e6f40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01b577a2d3b4fcd" /><Relationship Type="http://schemas.openxmlformats.org/officeDocument/2006/relationships/notesMaster" Target="/ppt/notesMasters/notesMaster1.xml" Id="R569865de214042a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91a9ca1a63744d7" /><Relationship Type="http://schemas.openxmlformats.org/officeDocument/2006/relationships/notesMaster" Target="/ppt/notesMasters/notesMaster1.xml" Id="R9e5720b5c77941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f0d633b94e4c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4c5e38ddc14c59" /><Relationship Type="http://schemas.openxmlformats.org/officeDocument/2006/relationships/slideLayout" Target="/ppt/slideLayouts/slideLayout1.xml" Id="R2541d715a2f642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41d715a2f642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095a24703446a8" /><Relationship Type="http://schemas.openxmlformats.org/officeDocument/2006/relationships/image" Target="/ppt/media/image.jpeg" Id="Rb5a2213227f94a0c" /><Relationship Type="http://schemas.openxmlformats.org/officeDocument/2006/relationships/notesSlide" Target="/ppt/notesSlides/notesSlide1.xml" Id="R223d2ac2968545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bb6a7bbc504fc3" /><Relationship Type="http://schemas.openxmlformats.org/officeDocument/2006/relationships/notesSlide" Target="/ppt/notesSlides/notesSlide2.xml" Id="R08c74f73d3c344b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aeab0fe2af4d7c" /><Relationship Type="http://schemas.openxmlformats.org/officeDocument/2006/relationships/image" Target="/ppt/media/image2.jpeg" Id="Rd93b97c5e55d4a22" /><Relationship Type="http://schemas.openxmlformats.org/officeDocument/2006/relationships/notesSlide" Target="/ppt/notesSlides/notesSlide3.xml" Id="R0254964fa97741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247746085b4288" /><Relationship Type="http://schemas.openxmlformats.org/officeDocument/2006/relationships/image" Target="/ppt/media/image3.jpeg" Id="R684ea02759eb4106" /><Relationship Type="http://schemas.openxmlformats.org/officeDocument/2006/relationships/notesSlide" Target="/ppt/notesSlides/notesSlide4.xml" Id="R2c9aa9109e9546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29d51b7a4c4cd0" /><Relationship Type="http://schemas.openxmlformats.org/officeDocument/2006/relationships/image" Target="/ppt/media/image.png" Id="R46b3425c92cd4700" /><Relationship Type="http://schemas.openxmlformats.org/officeDocument/2006/relationships/notesSlide" Target="/ppt/notesSlides/notesSlide5.xml" Id="Rc689a1ad1a694fe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755b4899c147e9" /><Relationship Type="http://schemas.openxmlformats.org/officeDocument/2006/relationships/image" Target="/ppt/media/image4.jpeg" Id="Rbe1a974a62624d07" /><Relationship Type="http://schemas.openxmlformats.org/officeDocument/2006/relationships/notesSlide" Target="/ppt/notesSlides/notesSlide6.xml" Id="R578556268bd5461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72daf514f14bb7" /><Relationship Type="http://schemas.openxmlformats.org/officeDocument/2006/relationships/notesSlide" Target="/ppt/notesSlides/notesSlide7.xml" Id="R880d5fcf26ef4d6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5cd41321fa4d6a" /><Relationship Type="http://schemas.openxmlformats.org/officeDocument/2006/relationships/notesSlide" Target="/ppt/notesSlides/notesSlide8.xml" Id="R17b2e09c366c4a9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58D2F0-E273-444B-86EC-FD3722C3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B4D119-0C9F-438C-96D9-1446D03E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143000"/>
            <a:ext cx="4953000" cy="4953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53049"/>
              </a:gs>
              <a:gs pos="100000">
                <a:srgbClr val="070A10"/>
              </a:gs>
            </a:gsLst>
            <a:path path="shape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D4DCB4-7BA4-4CB0-A726-444FE1EB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-1428750"/>
            <a:ext cx="4953000" cy="4953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23332"/>
              </a:gs>
              <a:gs pos="100000">
                <a:srgbClr val="070A10"/>
              </a:gs>
            </a:gsLst>
            <a:path path="shape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731456-1D39-4A17-B943-4471A0E70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Ask what happened. Understand why.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BD77D7-ABF9-4A50-A10D-A9EE671E1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542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7B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AA7B8"/>
                </a:solidFill>
                <a:latin typeface="Aptos"/>
                <a:ea typeface="Aptos"/>
                <a:cs typeface="Aptos"/>
              </a:rPr>
              <a:t>EchoMind reconstructs decision history from incidents, architecture reviews, Jira tickets, pull requests, and team discussions.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33A1D2-84D6-43D1-BE19-B88AB020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1924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67E8F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2183FA-A024-4A96-AF18-0F0BF772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43275"/>
            <a:ext cx="1790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Decision Time Machine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837BBC-F23C-4CC8-8A7C-D6E8BB09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76600"/>
            <a:ext cx="1314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86EFA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D2D2A8-7477-431F-A381-210B3691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343275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6EFA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6EFAC"/>
                </a:solidFill>
                <a:latin typeface="Aptos"/>
                <a:ea typeface="Aptos"/>
                <a:cs typeface="Aptos"/>
              </a:rPr>
              <a:t>Expert Finder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F424C5-595F-4889-8F04-03366B44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766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FDE6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FDD51A-1D46-4030-B1D1-9ECC34B3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343275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DE6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DE68A"/>
                </a:solidFill>
                <a:latin typeface="Aptos"/>
                <a:ea typeface="Aptos"/>
                <a:cs typeface="Aptos"/>
              </a:rPr>
              <a:t>Timeline Explorer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a2213227f94a0c"/>
          <a:srcRect xmlns:a="http://schemas.openxmlformats.org/drawingml/2006/main" l="26" t="0" r="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1219200"/>
            <a:ext cx="4095750" cy="23050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3CB136-A6B2-463E-994D-F8F44F28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19200"/>
            <a:ext cx="40957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C3E5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7F0156-13B7-4118-8551-03F7B4D0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9620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41D"/>
          </a:solidFill>
          <a:ln xmlns:a="http://schemas.openxmlformats.org/drawingml/2006/main" w="9525">
            <a:solidFill>
              <a:srgbClr val="22304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36A1F5-66B4-4476-82DE-2482F6EC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381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EF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9A0087-EC9F-4C13-9822-E19E7E6E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19600"/>
            <a:ext cx="9163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Hackathon MVP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EA3E3F-34E5-4C4A-A845-251BE969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9650"/>
            <a:ext cx="9163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7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AA7B8"/>
                </a:solidFill>
                <a:latin typeface="Aptos"/>
                <a:ea typeface="Aptos"/>
                <a:cs typeface="Aptos"/>
              </a:rPr>
              <a:t>Self-contained local demo with synthetic FreshCart data, traceable source records, optional Ollama/OpenAI answer synthesis, and deterministic fallback.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4A627F-5FCA-48D9-A9CD-CA62E2A8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085"/>
                </a:solidFill>
                <a:latin typeface="Aptos"/>
                <a:ea typeface="Aptos"/>
                <a:cs typeface="Aptos"/>
              </a:rPr>
              <a:t>EchoMind hackathon MVP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637053-33F4-4790-A3B1-7A1FCF85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08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1850207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5C773C-5E66-4B91-93A5-CF57320C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FAF065-AC13-4A00-BBC8-156FDBE8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143000"/>
            <a:ext cx="4953000" cy="4953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53049"/>
              </a:gs>
              <a:gs pos="100000">
                <a:srgbClr val="070A10"/>
              </a:gs>
            </a:gsLst>
            <a:path path="shape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B46AA3-0758-4896-BB92-CCB3E2E9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-1428750"/>
            <a:ext cx="4953000" cy="4953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23332"/>
              </a:gs>
              <a:gs pos="100000">
                <a:srgbClr val="070A10"/>
              </a:gs>
            </a:gsLst>
            <a:path path="shape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0DA5E3-F6BD-44EA-A002-4D124785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ECHOMIND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C03141-A19B-4F6B-94CC-6CFB0432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23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Companies document work. They still forget context.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6B6DEB-C922-404C-B38D-0C012031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7B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AA7B8"/>
                </a:solidFill>
                <a:latin typeface="Aptos"/>
                <a:ea typeface="Aptos"/>
                <a:cs typeface="Aptos"/>
              </a:rPr>
              <a:t>The answer to “why did we do this?” is usually split across five different systems.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80B0FD-1A41-4E7E-AEFF-BBCDB1C2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3143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41D"/>
          </a:solidFill>
          <a:ln xmlns:a="http://schemas.openxmlformats.org/drawingml/2006/main" w="9525">
            <a:solidFill>
              <a:srgbClr val="22304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96B043-C796-4831-8BD4-82DB0711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381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F1A9AB-4AF5-4E92-9E6B-78FB3B012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00300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Scattered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32AAE7-D9D6-42D3-934B-E15A1DC9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00350"/>
            <a:ext cx="26860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7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AA7B8"/>
                </a:solidFill>
                <a:latin typeface="Aptos"/>
                <a:ea typeface="Aptos"/>
                <a:cs typeface="Aptos"/>
              </a:rPr>
              <a:t>Incidents explain urgency. Architecture reviews record tradeoffs. Slack captures debate. Jira and PRs show implementation.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80A69D-9AAF-408A-91A1-4C43574B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90750"/>
            <a:ext cx="3143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41D"/>
          </a:solidFill>
          <a:ln xmlns:a="http://schemas.openxmlformats.org/drawingml/2006/main" w="9525">
            <a:solidFill>
              <a:srgbClr val="2230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98A0FD-1E49-4C49-A309-CD544F9A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90750"/>
            <a:ext cx="381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EF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8985C7-6444-4502-BE36-2271AFF0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400300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Invisible expertise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B54E22-2EAA-4B14-96BA-BB63CBA9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800350"/>
            <a:ext cx="26860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7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AA7B8"/>
                </a:solidFill>
                <a:latin typeface="Aptos"/>
                <a:ea typeface="Aptos"/>
                <a:cs typeface="Aptos"/>
              </a:rPr>
              <a:t>The right person is not always the loudest title. Expertise lives in contributions and incident response history.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227CC9-4792-4303-83F4-B5420369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90750"/>
            <a:ext cx="3143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41D"/>
          </a:solidFill>
          <a:ln xmlns:a="http://schemas.openxmlformats.org/drawingml/2006/main" w="9525">
            <a:solidFill>
              <a:srgbClr val="22304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45EA58-1B5F-47A9-AAB6-D27164D2A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90750"/>
            <a:ext cx="381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6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0DCC3A-0AEE-4253-B10B-7701F6DD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00300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Lost timelines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C4FADB-3801-4C8B-A9E6-3179E5673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00350"/>
            <a:ext cx="26860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7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AA7B8"/>
                </a:solidFill>
                <a:latin typeface="Aptos"/>
                <a:ea typeface="Aptos"/>
                <a:cs typeface="Aptos"/>
              </a:rPr>
              <a:t>New teammates see the current system but not the sequence of events that shaped it.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BDC1E7-7F5D-47D4-AE2A-D624A7FC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9625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EchoMind turns scattered artifacts into an evidence-backed memory graph teams can ask, inspect, and trust.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200CEA-8988-4672-A66C-DF088AA1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085"/>
                </a:solidFill>
                <a:latin typeface="Aptos"/>
                <a:ea typeface="Aptos"/>
                <a:cs typeface="Aptos"/>
              </a:rPr>
              <a:t>EchoMind hackathon MVP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94165D-F7F9-4685-8142-CF12E79A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08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8851633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33422A-E43A-4B86-BEE8-5D934E16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CAD631-5385-4036-9E3B-FB9DCDFE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143000"/>
            <a:ext cx="4953000" cy="4953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53049"/>
              </a:gs>
              <a:gs pos="100000">
                <a:srgbClr val="070A10"/>
              </a:gs>
            </a:gsLst>
            <a:path path="shape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5BF04-DDD5-4752-85E2-3FA52CDD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-1428750"/>
            <a:ext cx="4953000" cy="4953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23332"/>
              </a:gs>
              <a:gs pos="100000">
                <a:srgbClr val="070A10"/>
              </a:gs>
            </a:gsLst>
            <a:path path="shape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2B4CBC-BCB0-45E4-94AD-F10E0001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ECHOMIND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5B7F8B-FCBB-48A6-95D5-447B4571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23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The product: one question, the complete story.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406D2B-3326-47E3-A089-AEE11CFD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7B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AA7B8"/>
                </a:solidFill>
                <a:latin typeface="Aptos"/>
                <a:ea typeface="Aptos"/>
                <a:cs typeface="Aptos"/>
              </a:rPr>
              <a:t>Users ask naturally. EchoMind retrieves evidence first, then explains it.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3b97c5e55d4a22"/>
          <a:srcRect xmlns:a="http://schemas.openxmlformats.org/drawingml/2006/main" l="78" t="0" r="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152650"/>
            <a:ext cx="6762750" cy="3810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C1E7A1-F63D-492F-BAE3-1350C6AB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67627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C3E5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3A81AD-2F00-4489-AAD9-AFCDDF89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52650"/>
            <a:ext cx="3143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41D"/>
          </a:solidFill>
          <a:ln xmlns:a="http://schemas.openxmlformats.org/drawingml/2006/main" w="9525">
            <a:solidFill>
              <a:srgbClr val="22304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7097B0-EC78-408A-A4F8-A62C9282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52650"/>
            <a:ext cx="381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F60847-F35D-4BF2-9F24-E263BC82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1. Ask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E169D4-9929-441A-B8A3-32B15803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62250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7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AA7B8"/>
                </a:solidFill>
                <a:latin typeface="Aptos"/>
                <a:ea typeface="Aptos"/>
                <a:cs typeface="Aptos"/>
              </a:rPr>
              <a:t>“Why did checkout freeze during the holiday sale?”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2E33EE-3D16-453C-9ED9-4F2955D2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29000"/>
            <a:ext cx="3143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41D"/>
          </a:solidFill>
          <a:ln xmlns:a="http://schemas.openxmlformats.org/drawingml/2006/main" w="9525">
            <a:solidFill>
              <a:srgbClr val="22304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BD9EBC-836F-4864-B709-D0CBCD26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29000"/>
            <a:ext cx="381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EF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91C5E0-3944-4D5B-9F2C-3E90F432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2. Ground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621D6F-1527-41F2-816E-BDD8F264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38600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7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AA7B8"/>
                </a:solidFill>
                <a:latin typeface="Aptos"/>
                <a:ea typeface="Aptos"/>
                <a:cs typeface="Aptos"/>
              </a:rPr>
              <a:t>Find incidents, decisions, discussions, tickets, and PRs.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BC2C7D-738D-47A5-A604-D919D107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05350"/>
            <a:ext cx="3143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41D"/>
          </a:solidFill>
          <a:ln xmlns:a="http://schemas.openxmlformats.org/drawingml/2006/main" w="9525">
            <a:solidFill>
              <a:srgbClr val="22304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A38837-210B-4A92-9C3D-DF37FE5D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05350"/>
            <a:ext cx="381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6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853342-7851-4572-BE5A-96D49A17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914900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3. Explain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9C9BA8-B1FA-43FD-A3F1-D495F7DD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314950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7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AA7B8"/>
                </a:solidFill>
                <a:latin typeface="Aptos"/>
                <a:ea typeface="Aptos"/>
                <a:cs typeface="Aptos"/>
              </a:rPr>
              <a:t>Return confidence, evidence mix, citations, and source records.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91B0B5-3393-41A7-8959-335F8E45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085"/>
                </a:solidFill>
                <a:latin typeface="Aptos"/>
                <a:ea typeface="Aptos"/>
                <a:cs typeface="Aptos"/>
              </a:rPr>
              <a:t>EchoMind hackathon MVP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BAA5AD-B4A0-4D84-AB85-C143CBCE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08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0855646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6FF01D-2A40-4978-9345-B121DBD6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CF34E2-9E9A-49FB-8E19-3BB584C9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143000"/>
            <a:ext cx="4953000" cy="4953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53049"/>
              </a:gs>
              <a:gs pos="100000">
                <a:srgbClr val="070A10"/>
              </a:gs>
            </a:gsLst>
            <a:path path="shape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366D9D-6D62-4601-ACEE-22414864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-1428750"/>
            <a:ext cx="4953000" cy="4953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23332"/>
              </a:gs>
              <a:gs pos="100000">
                <a:srgbClr val="070A10"/>
              </a:gs>
            </a:gsLst>
            <a:path path="shape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4BAF79-B8E3-4BED-8BC2-BBEFDDAA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ECHOMIND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1128EF-8F9A-4804-A53E-FBB222E0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23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Traceable answers, not AI guesswork.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80207E-0462-4465-B2F1-9BDC4EE06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7B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AA7B8"/>
                </a:solidFill>
                <a:latin typeface="Aptos"/>
                <a:ea typeface="Aptos"/>
                <a:cs typeface="Aptos"/>
              </a:rPr>
              <a:t>Every citation can open the original synthetic source record.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4ea02759eb4106"/>
          <a:srcRect xmlns:a="http://schemas.openxmlformats.org/drawingml/2006/main" l="3906" t="0" r="390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2095500"/>
            <a:ext cx="5619750" cy="3429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EF6618-82A0-4BFD-8848-45A2A839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5619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C3E5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2C459D-629F-4344-8695-542D8F64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33600"/>
            <a:ext cx="3429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5"/>
          </a:solidFill>
          <a:ln xmlns:a="http://schemas.openxmlformats.org/drawingml/2006/main" w="9525">
            <a:solidFill>
              <a:srgbClr val="22304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B7955D-0D5F-44A2-B57A-E623903A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4315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Incident INC-001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4548FA-255D-4F03-BAA3-532885D6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86050"/>
            <a:ext cx="2952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7B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AA7B8"/>
                </a:solidFill>
                <a:latin typeface="Aptos"/>
                <a:ea typeface="Aptos"/>
                <a:cs typeface="Aptos"/>
              </a:rPr>
              <a:t>Holiday Checkout Freeze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9BDB21-61A6-40E0-8589-30B4145FC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33750"/>
            <a:ext cx="3524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41D"/>
          </a:solidFill>
          <a:ln xmlns:a="http://schemas.openxmlformats.org/drawingml/2006/main" w="9525">
            <a:solidFill>
              <a:srgbClr val="22304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D73F8D-7A0F-4F57-B51D-EF6D48DB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33750"/>
            <a:ext cx="38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4BF1E1-F1FF-4498-9BD2-66FAFF00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543300"/>
            <a:ext cx="3067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Root cause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E4030F-CE0F-463E-A9F7-49441B9E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943350"/>
            <a:ext cx="3067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7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AA7B8"/>
                </a:solidFill>
                <a:latin typeface="Aptos"/>
                <a:ea typeface="Aptos"/>
                <a:cs typeface="Aptos"/>
              </a:rPr>
              <a:t>The checkout monolith handled too many synchronous responsibilities during a traffic spike.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1B7468-4395-4F59-8912-736FA795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00550"/>
            <a:ext cx="3524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41D"/>
          </a:solidFill>
          <a:ln xmlns:a="http://schemas.openxmlformats.org/drawingml/2006/main" w="9525">
            <a:solidFill>
              <a:srgbClr val="22304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44DC6E-9ADC-4AA1-BF66-9403F214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00550"/>
            <a:ext cx="38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EF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ED25D2-15E3-4974-9382-C48FADDA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610100"/>
            <a:ext cx="3067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Remediation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D7CF14-220B-4804-99E8-1FF7CE55F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010150"/>
            <a:ext cx="3067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7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AA7B8"/>
                </a:solidFill>
                <a:latin typeface="Aptos"/>
                <a:ea typeface="Aptos"/>
                <a:cs typeface="Aptos"/>
              </a:rPr>
              <a:t>FreshCart created CheckoutFlow, split responsibilities, and added order lifecycle events.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1489E5-BE95-45AE-B20E-A6FA0ED0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085"/>
                </a:solidFill>
                <a:latin typeface="Aptos"/>
                <a:ea typeface="Aptos"/>
                <a:cs typeface="Aptos"/>
              </a:rPr>
              <a:t>EchoMind hackathon MVP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81C2D9-0716-471B-B298-4C382DC6B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08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7160043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CA440C-009B-4E8D-8C8E-BA225698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7AD7B4-2D3B-4758-97B5-F09F3B0A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143000"/>
            <a:ext cx="4953000" cy="4953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53049"/>
              </a:gs>
              <a:gs pos="100000">
                <a:srgbClr val="070A10"/>
              </a:gs>
            </a:gsLst>
            <a:path path="shape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BAF199-0A24-40AD-8454-EAC4C94F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-1428750"/>
            <a:ext cx="4953000" cy="4953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23332"/>
              </a:gs>
              <a:gs pos="100000">
                <a:srgbClr val="070A10"/>
              </a:gs>
            </a:gsLst>
            <a:path path="shape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A70E9F-F2F5-4AAD-9F0D-9C47B1EDE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ECHOMIND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BD39D0-9A98-4267-99B4-296E45F1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23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Expert Finder uses demonstrated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68A015-41FF-418E-A4DC-942FD56C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7B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AA7B8"/>
                </a:solidFill>
                <a:latin typeface="Aptos"/>
                <a:ea typeface="Aptos"/>
                <a:cs typeface="Aptos"/>
              </a:rPr>
              <a:t>EchoMind ranks people from source evidence, not org-chart assumptions.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b3425c92cd4700"/>
          <a:srcRect xmlns:a="http://schemas.openxmlformats.org/drawingml/2006/main" l="51" t="0" r="5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2095500"/>
            <a:ext cx="6191250" cy="34861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E4B8F7-49E8-45C1-86A4-2A2B1B17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619125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C3E5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8D9B06-39FB-4D0C-B9D4-3AAD9281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95500"/>
            <a:ext cx="3143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41D"/>
          </a:solidFill>
          <a:ln xmlns:a="http://schemas.openxmlformats.org/drawingml/2006/main" w="9525">
            <a:solidFill>
              <a:srgbClr val="22304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B7B5CF-C432-428F-9DED-67DA6EBB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95500"/>
            <a:ext cx="38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31CDC2-7061-4FF2-BAA4-E7AE53088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305050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Signals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FE1E04-E31A-40F7-8572-DF1422560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705100"/>
            <a:ext cx="2686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7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AA7B8"/>
                </a:solidFill>
                <a:latin typeface="Aptos"/>
                <a:ea typeface="Aptos"/>
                <a:cs typeface="Aptos"/>
              </a:rPr>
              <a:t>Tickets, pull requests, architecture reviews, discussions, and incident response.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E275AD-62FF-493E-9A4E-0D7497C97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38500"/>
            <a:ext cx="3143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41D"/>
          </a:solidFill>
          <a:ln xmlns:a="http://schemas.openxmlformats.org/drawingml/2006/main" w="9525">
            <a:solidFill>
              <a:srgbClr val="22304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06E4AD-E519-4D2B-A3C0-361188B7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38500"/>
            <a:ext cx="38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EF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FE3002-719A-462A-9BA1-94C1BCFCF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448050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EA864E-C731-4F35-B176-0C6B02C5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848100"/>
            <a:ext cx="2686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7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AA7B8"/>
                </a:solidFill>
                <a:latin typeface="Aptos"/>
                <a:ea typeface="Aptos"/>
                <a:cs typeface="Aptos"/>
              </a:rPr>
              <a:t>Ranked experts with confidence and connected evidence.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001647-3792-414B-8345-5A3B1DEA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381500"/>
            <a:ext cx="3143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41D"/>
          </a:solidFill>
          <a:ln xmlns:a="http://schemas.openxmlformats.org/drawingml/2006/main" w="9525">
            <a:solidFill>
              <a:srgbClr val="22304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9B8EDE-9B0C-433F-AA9F-313E8267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381500"/>
            <a:ext cx="38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6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071D04-0042-4054-B69E-C6ED3962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591050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Demo answer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23ECE6-52E3-4AB2-8C68-6F100499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991100"/>
            <a:ext cx="2686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7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AA7B8"/>
                </a:solidFill>
                <a:latin typeface="Aptos"/>
                <a:ea typeface="Aptos"/>
                <a:cs typeface="Aptos"/>
              </a:rPr>
              <a:t>Priya Shah, Lucas Chen, and Amara Okafor surface for StockSync.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78A296-717B-42CF-AB33-A419435C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085"/>
                </a:solidFill>
                <a:latin typeface="Aptos"/>
                <a:ea typeface="Aptos"/>
                <a:cs typeface="Aptos"/>
              </a:rPr>
              <a:t>EchoMind hackathon MVP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BC1C87-03B5-4E9E-8D7A-245D2BC2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08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9524677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1F37D1-EDAE-4E70-8A26-92974F5C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5697D7-67E5-4A4A-B154-75C4F0682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143000"/>
            <a:ext cx="4953000" cy="4953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53049"/>
              </a:gs>
              <a:gs pos="100000">
                <a:srgbClr val="070A10"/>
              </a:gs>
            </a:gsLst>
            <a:path path="shape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ECBDA1-8D97-4CBD-800B-59B32ABF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-1428750"/>
            <a:ext cx="4953000" cy="4953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23332"/>
              </a:gs>
              <a:gs pos="100000">
                <a:srgbClr val="070A10"/>
              </a:gs>
            </a:gsLst>
            <a:path path="shape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03DC3F-780A-4D5C-9AEE-636CD5C7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ECHOMIND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3E4BE4-E0C5-4FC1-A42F-BC0A117B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23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Company Memory makes the graph visible.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AB8265-5CFF-4BA6-BF13-3B72B8C0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7B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AA7B8"/>
                </a:solidFill>
                <a:latin typeface="Aptos"/>
                <a:ea typeface="Aptos"/>
                <a:cs typeface="Aptos"/>
              </a:rPr>
              <a:t>When users do not know what to ask, they can browse the connected system.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1a974a62624d07"/>
          <a:srcRect xmlns:a="http://schemas.openxmlformats.org/drawingml/2006/main" l="3125" t="0" r="31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2000250"/>
            <a:ext cx="6191250" cy="3714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855875-567C-49EE-984A-70C25D64A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6191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2C3E5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445A24-D555-4E8A-98D3-C2EE8526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095500"/>
            <a:ext cx="3143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41D"/>
          </a:solidFill>
          <a:ln xmlns:a="http://schemas.openxmlformats.org/drawingml/2006/main" w="9525">
            <a:solidFill>
              <a:srgbClr val="22304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E6E438-66D2-481B-9452-A99FC568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095500"/>
            <a:ext cx="381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FBF736-EC72-4EB9-A1BA-834E979B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305050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Projects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41E3B6-8821-4264-BEAE-A42DE4C44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705100"/>
            <a:ext cx="26860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7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AA7B8"/>
                </a:solidFill>
                <a:latin typeface="Aptos"/>
                <a:ea typeface="Aptos"/>
                <a:cs typeface="Aptos"/>
              </a:rPr>
              <a:t>CheckoutFlow, StockSync, DeliveryTrack, and EchoMind.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44BA49-56E9-461E-A321-8A345FB9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86125"/>
            <a:ext cx="3143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41D"/>
          </a:solidFill>
          <a:ln xmlns:a="http://schemas.openxmlformats.org/drawingml/2006/main" w="9525">
            <a:solidFill>
              <a:srgbClr val="22304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E9FEBB-D3DC-42B4-865B-1DDF6D75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86125"/>
            <a:ext cx="381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EF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B256DA-6B82-4F5B-886A-1F468713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495675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People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7E1601-8FA5-427C-BBBD-AE06AFE2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895725"/>
            <a:ext cx="26860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7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AA7B8"/>
                </a:solidFill>
                <a:latin typeface="Aptos"/>
                <a:ea typeface="Aptos"/>
                <a:cs typeface="Aptos"/>
              </a:rPr>
              <a:t>Experts connected by real contributions and decisions.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D6C19D-E47F-4001-95CE-B8B0890A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476750"/>
            <a:ext cx="3143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41D"/>
          </a:solidFill>
          <a:ln xmlns:a="http://schemas.openxmlformats.org/drawingml/2006/main" w="9525">
            <a:solidFill>
              <a:srgbClr val="22304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64C7CF-FE1A-430F-A51F-64F434C9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476750"/>
            <a:ext cx="381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6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2F2D33-DA01-4CB2-8239-AF57DC44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686300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Incidents + Decisions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B2A953-3D41-4812-AEC8-8CC47828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086350"/>
            <a:ext cx="26860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7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AA7B8"/>
                </a:solidFill>
                <a:latin typeface="Aptos"/>
                <a:ea typeface="Aptos"/>
                <a:cs typeface="Aptos"/>
              </a:rPr>
              <a:t>Operational events connected to future architecture choices.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0159C6-AA11-45CB-8C81-5B4C0D8A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085"/>
                </a:solidFill>
                <a:latin typeface="Aptos"/>
                <a:ea typeface="Aptos"/>
                <a:cs typeface="Aptos"/>
              </a:rPr>
              <a:t>EchoMind hackathon MVP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C7863C-F433-412E-B64B-5D68028C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08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2174995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5C8FF6-FB76-4A6B-9E0F-335278336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89DBEB-A6E2-4B1A-A35B-FDF74788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143000"/>
            <a:ext cx="4953000" cy="4953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53049"/>
              </a:gs>
              <a:gs pos="100000">
                <a:srgbClr val="070A10"/>
              </a:gs>
            </a:gsLst>
            <a:path path="shape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ADCFB9-0B50-4907-ADEA-979AACCD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-1428750"/>
            <a:ext cx="4953000" cy="4953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23332"/>
              </a:gs>
              <a:gs pos="100000">
                <a:srgbClr val="070A10"/>
              </a:gs>
            </a:gsLst>
            <a:path path="shape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92FD21-1985-435F-AA02-BEFBE1D0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ECHOMIND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2FD093-09EC-4442-84D8-FD9ECA40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23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Architecture: evidence first, AI second.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CECD55-3969-4FC1-954A-EF05A5BF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7B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AA7B8"/>
                </a:solidFill>
                <a:latin typeface="Aptos"/>
                <a:ea typeface="Aptos"/>
                <a:cs typeface="Aptos"/>
              </a:rPr>
              <a:t>The demo is reliable locally, with a credible path to the full graph-backed architecture.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06DC9E-9ED5-4BA8-997B-B5BF5741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2095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41D"/>
          </a:solidFill>
          <a:ln xmlns:a="http://schemas.openxmlformats.org/drawingml/2006/main" w="9525">
            <a:solidFill>
              <a:srgbClr val="22304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C96400-3E98-4088-802E-DC4653E8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381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B54393-6AFD-44B9-AB51-25CD3B8B6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95550"/>
            <a:ext cx="1638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React + Tailwind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7FC11D-5E0C-4A8C-A161-CD12ABFF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95600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7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AA7B8"/>
                </a:solidFill>
                <a:latin typeface="Aptos"/>
                <a:ea typeface="Aptos"/>
                <a:cs typeface="Aptos"/>
              </a:rPr>
              <a:t>Polished ask and memory UI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64ED67-E59F-4296-98DD-B13C26B4D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86000"/>
            <a:ext cx="2095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41D"/>
          </a:solidFill>
          <a:ln xmlns:a="http://schemas.openxmlformats.org/drawingml/2006/main" w="9525">
            <a:solidFill>
              <a:srgbClr val="2230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112B21-16BB-464C-AEEF-13BFA847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86000"/>
            <a:ext cx="381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EF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3A56DA-ECB3-4563-8F35-0C142199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495550"/>
            <a:ext cx="1638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run_demo.py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9AC627-09C1-4E3F-9346-64C967EE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95600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7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AA7B8"/>
                </a:solidFill>
                <a:latin typeface="Aptos"/>
                <a:ea typeface="Aptos"/>
                <a:cs typeface="Aptos"/>
              </a:rPr>
              <a:t>Self-contained demo server and retrieval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6E5E07-CB33-4F25-A753-1C682A36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86000"/>
            <a:ext cx="2095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41D"/>
          </a:solidFill>
          <a:ln xmlns:a="http://schemas.openxmlformats.org/drawingml/2006/main" w="9525">
            <a:solidFill>
              <a:srgbClr val="22304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22B799-6FB1-4583-AB98-57F479F1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86000"/>
            <a:ext cx="381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6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2FA421-1F9B-475F-BF33-8EA682A5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95550"/>
            <a:ext cx="1638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Synthetic memory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6E9AA7-E7CA-44DD-8594-BBAD23EB5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95600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7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AA7B8"/>
                </a:solidFill>
                <a:latin typeface="Aptos"/>
                <a:ea typeface="Aptos"/>
                <a:cs typeface="Aptos"/>
              </a:rPr>
              <a:t>FreshCart incidents, decisions, tickets, PRs, discussions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957088-7781-4C1B-9168-DA159FA4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86000"/>
            <a:ext cx="2095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41D"/>
          </a:solidFill>
          <a:ln xmlns:a="http://schemas.openxmlformats.org/drawingml/2006/main" w="9525">
            <a:solidFill>
              <a:srgbClr val="22304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CB9A91-55EC-4CA6-9F0A-466ED51D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86000"/>
            <a:ext cx="381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EBFD74-7204-4278-BC13-19C2421B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95550"/>
            <a:ext cx="1638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Ollama / OpenAI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709E54-089B-4851-9627-8624DB4F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95600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7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AA7B8"/>
                </a:solidFill>
                <a:latin typeface="Aptos"/>
                <a:ea typeface="Aptos"/>
                <a:cs typeface="Aptos"/>
              </a:rPr>
              <a:t>Optional answer polishing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73E8E6-2C5E-434E-9EFA-5E760D37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81500"/>
            <a:ext cx="857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Target production path: Spring Boot + Spring Data Neo4j + FastAPI AI service + Neo4j knowledge graph.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34F043-E7AE-43ED-87C4-97C9D16F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53000"/>
            <a:ext cx="742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9AA7B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AA7B8"/>
                </a:solidFill>
                <a:latin typeface="Aptos"/>
                <a:ea typeface="Aptos"/>
                <a:cs typeface="Aptos"/>
              </a:rPr>
              <a:t>The language model improves explanation quality, but source retrieval decides what facts are allowed into the answer.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85CFAB-6ECB-4A70-838B-0F9CC78D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085"/>
                </a:solidFill>
                <a:latin typeface="Aptos"/>
                <a:ea typeface="Aptos"/>
                <a:cs typeface="Aptos"/>
              </a:rPr>
              <a:t>EchoMind hackathon MVP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BF5E3A-AC3B-4D2A-92D0-26B44280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08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1270403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FB8445-8797-4BA8-8872-5D505DAA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1A40D4-E197-4177-B667-8DB10EE5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143000"/>
            <a:ext cx="4953000" cy="4953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53049"/>
              </a:gs>
              <a:gs pos="100000">
                <a:srgbClr val="070A10"/>
              </a:gs>
            </a:gsLst>
            <a:path path="shape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7F9FD1-8C21-4409-989E-45D55686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-1428750"/>
            <a:ext cx="4953000" cy="4953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23332"/>
              </a:gs>
              <a:gs pos="100000">
                <a:srgbClr val="070A10"/>
              </a:gs>
            </a:gsLst>
            <a:path path="shape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67F28C-80F5-4BEC-9AF3-59CAAC7D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ECHOMIND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025B8F-7EDE-474F-9815-144AE615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23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Why this wins the demo.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7664B3-1A5A-45DD-8948-171F03E6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7B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AA7B8"/>
                </a:solidFill>
                <a:latin typeface="Aptos"/>
                <a:ea typeface="Aptos"/>
                <a:cs typeface="Aptos"/>
              </a:rPr>
              <a:t>EchoMind turns institutional memory into a product people can actually use.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2E41E8-9965-414E-8229-6B67535C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857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41D"/>
          </a:solidFill>
          <a:ln xmlns:a="http://schemas.openxmlformats.org/drawingml/2006/main" w="9525">
            <a:solidFill>
              <a:srgbClr val="22304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FAB2EC-02FE-4C8F-A831-3C38C50E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38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47A472-E726-43AB-81CE-3F108994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57450"/>
            <a:ext cx="2400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First 10 seconds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90017B-ABCD-4C86-875B-C53DC9D3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2400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7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AA7B8"/>
                </a:solidFill>
                <a:latin typeface="Aptos"/>
                <a:ea typeface="Aptos"/>
                <a:cs typeface="Aptos"/>
              </a:rPr>
              <a:t>A premium ask experience with a clear pain: why did this happen?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7ED08A-88ED-4B4A-B1A1-7D8AC5E6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47900"/>
            <a:ext cx="2857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41D"/>
          </a:solidFill>
          <a:ln xmlns:a="http://schemas.openxmlformats.org/drawingml/2006/main" w="9525">
            <a:solidFill>
              <a:srgbClr val="2230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7C8FA3-3F37-44F5-BF41-F3A7B334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47900"/>
            <a:ext cx="38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EF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7855B2-1570-4001-B744-B5AEB2FB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57450"/>
            <a:ext cx="2400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Live proof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9B18C1-6640-412C-A3BE-4DC8FCD9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57500"/>
            <a:ext cx="2400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7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AA7B8"/>
                </a:solidFill>
                <a:latin typeface="Aptos"/>
                <a:ea typeface="Aptos"/>
                <a:cs typeface="Aptos"/>
              </a:rPr>
              <a:t>The synced demo shows asking, evidence, source inspection, experts, timeline, and memory map.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C5D729-9EF9-41D9-AB5D-66C61D8F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47900"/>
            <a:ext cx="2857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41D"/>
          </a:solidFill>
          <a:ln xmlns:a="http://schemas.openxmlformats.org/drawingml/2006/main" w="9525">
            <a:solidFill>
              <a:srgbClr val="22304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7B6CCF-6EA0-40A6-8C3A-91A34CDF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47900"/>
            <a:ext cx="38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6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990E99-0124-4E6A-914C-54082C96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57450"/>
            <a:ext cx="2400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Future scope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2D85A7-DC6B-46C4-9DA1-9A727EF7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57500"/>
            <a:ext cx="2400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7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AA7B8"/>
                </a:solidFill>
                <a:latin typeface="Aptos"/>
                <a:ea typeface="Aptos"/>
                <a:cs typeface="Aptos"/>
              </a:rPr>
              <a:t>Real connectors, graph traversal, semantic retrieval, access control, and onboarding briefings.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3A67DE-414D-46CB-B022-A9B2A816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76750"/>
            <a:ext cx="9144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The big idea: companies already have the knowledge. EchoMind makes sure it does not disappear.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F7BE7E-33E0-4FA0-9B7D-7C95EE6B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085"/>
                </a:solidFill>
                <a:latin typeface="Aptos"/>
                <a:ea typeface="Aptos"/>
                <a:cs typeface="Aptos"/>
              </a:rPr>
              <a:t>EchoMind hackathon MVP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B31308-994E-4D5A-9E3C-20D8CD68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08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294259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2026-06-07T10:52:23.2590000Z</dcterms:created>
  <dcterms:modified xsi:type="dcterms:W3CDTF">2026-06-07T10:52:23.2590000Z</dcterms:modified>
</coreProperties>
</file>